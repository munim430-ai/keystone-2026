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400" b="1">
                <a:solidFill>
                  <a:srgbClr val="F8FAFC"/>
                </a:solidFill>
                <a:latin typeface="Arial"/>
              </a:defRPr>
            </a:pPr>
            <a:r>
              <a:t>KEYSTONE PARTNERSHIP PROPOSAL</a:t>
            </a:r>
          </a:p>
          <a:p>
            <a:pPr>
              <a:spcAft>
                <a:spcPts val="2800"/>
              </a:spcAft>
              <a:defRPr sz="2200" b="1">
                <a:solidFill>
                  <a:srgbClr val="F59E0B"/>
                </a:solidFill>
                <a:latin typeface="Arial"/>
              </a:defRPr>
            </a:pPr>
            <a:r>
              <a:t>Empowering Farhabi Shikder to Revolutionize Study Abroad Operations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Keystone Anti-Agency Blueprint  |  Narsingdi &amp; Gazipur Launch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The Disruptive 'Anti-Agency'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THE PRICING REVOLUTION</a:t>
            </a:r>
          </a:p>
          <a:p>
            <a:pPr>
              <a:spcAft>
                <a:spcPts val="10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- 20,000 Upfront: Covers document notary, translation, and automated audit checks. Filters low-intent files.</a:t>
            </a:r>
          </a:p>
          <a:p>
            <a:pPr>
              <a:spcAft>
                <a:spcPts val="10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- 150,000 Post-Visa Fee: Collected only after the student's passport has the visa stamp.</a:t>
            </a:r>
          </a:p>
          <a:p>
            <a:pPr>
              <a:spcAft>
                <a:spcPts val="1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- 0 Hidden Cost Policy: Standard agencies charge 250,000+; we run on low overhead.</a:t>
            </a:r>
          </a:p>
          <a:p>
            <a:pPr>
              <a:spcAft>
                <a:spcPts val="1400"/>
              </a:spcAft>
              <a:defRPr sz="1800" b="1">
                <a:solidFill>
                  <a:srgbClr val="F59E0B"/>
                </a:solidFill>
                <a:latin typeface="Arial"/>
              </a:defRPr>
            </a:pPr>
            <a:r>
              <a:t>THE STUDENT GRANT / RE-INVESTMENT</a:t>
            </a:r>
          </a:p>
          <a:p>
            <a:pPr>
              <a:spcAft>
                <a:spcPts val="10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- 90,000 Returned as Stipend: Paid back to the student as a monthly allowance over their first 6 months in Korea.</a:t>
            </a:r>
          </a:p>
          <a:p>
            <a:pPr>
              <a:spcAft>
                <a:spcPts val="10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- 60,000 Soft-Landing Package: Spent on arrival essentials (local SIM card, T-Money transport card, kitchen utensils, groceries).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THE COMMISSION REBATE MATRIX</a:t>
            </a:r>
          </a:p>
          <a:p>
            <a:pPr>
              <a:spcAft>
                <a:spcPts val="12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ApplyBoard Commissions: Keystone gets 8% of the tuition fee. We rebate 4% directly back to the student as an additional scholarship, keeping 4% net.</a:t>
            </a:r>
          </a:p>
          <a:p>
            <a:pPr>
              <a:spcAft>
                <a:spcPts val="1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Direct MOU Commissions: If partnered directly with universities, Keystone gets 12%. We rebate 8% back and keep 4%.</a:t>
            </a:r>
          </a:p>
          <a:p>
            <a:pPr>
              <a:spcAft>
                <a:spcPts val="1400"/>
              </a:spcAft>
              <a:defRPr sz="1800" b="1">
                <a:solidFill>
                  <a:srgbClr val="F59E0B"/>
                </a:solidFill>
                <a:latin typeface="Arial"/>
              </a:defRPr>
            </a:pPr>
            <a:r>
              <a:t>WHY STUDENTS CHOOSE US</a:t>
            </a:r>
          </a:p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- 'The Only Agency Where Applying Pays You Back'</a:t>
            </a:r>
          </a:p>
          <a:p>
            <a:pPr>
              <a:spcAft>
                <a:spcPts val="1000"/>
              </a:spcAft>
              <a:defRPr sz="1500" b="0">
                <a:solidFill>
                  <a:srgbClr val="94A3B8"/>
                </a:solidFill>
                <a:latin typeface="Arial"/>
              </a:defRPr>
            </a:pPr>
            <a:r>
              <a:t>- Full compliance transparency, local Narsingdi/Gazipur offices, and zero-risk 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Zero-Error Document Audit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1. DOCUMENT INTAKE STRUCTURE</a:t>
            </a:r>
          </a:p>
          <a:p>
            <a:pPr>
              <a:spcAft>
                <a:spcPts val="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Students submit their file bundle (Passport, NID, birth certificate, parent documents).</a:t>
            </a:r>
          </a:p>
          <a:p>
            <a:pPr>
              <a:spcAft>
                <a:spcPts val="1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Files are saved locally in the student's designated directory inside audit-system/students/.</a:t>
            </a:r>
          </a:p>
          <a:p>
            <a:pPr>
              <a:spcAft>
                <a:spcPts val="12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2. THE AUTOMATED ENGINE (audit.py)</a:t>
            </a:r>
          </a:p>
          <a:p>
            <a:pPr>
              <a:spcAft>
                <a:spcPts val="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The Python script validates files against manifest criteria (e.g. passport valid for 6+ months, bank statements less than 30 days old).</a:t>
            </a:r>
          </a:p>
          <a:p>
            <a:pPr>
              <a:spcAft>
                <a:spcPts val="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Cross-checks student details (spelling of names across transcripts, NID, and passport) using consistency rules.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  <a:latin typeface="Arial"/>
              </a:defRPr>
            </a:pPr>
            <a:r>
              <a:t>3. THE THREE-STATE OUTPUT GATE</a:t>
            </a:r>
          </a:p>
          <a:p>
            <a:pPr>
              <a:spcAft>
                <a:spcPts val="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VERIFIED: Documents are present and successfully passed all rules.</a:t>
            </a:r>
          </a:p>
          <a:p>
            <a:pPr>
              <a:spcAft>
                <a:spcPts val="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FLAGGED: Files are found but require human verification (e.g., verifying signature clarity). Resolved via adding to human_signoffs.</a:t>
            </a:r>
          </a:p>
          <a:p>
            <a:pPr>
              <a:spcAft>
                <a:spcPts val="1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MISSING: Missing critical documents or failed check values (e.g., balance shortfall).</a:t>
            </a:r>
          </a:p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  <a:latin typeface="Arial"/>
              </a:defRPr>
            </a:pPr>
            <a:r>
              <a:t>4. PRE-SUBMISSION ZERO REAL-WORLD ERROR GUARANTEE</a:t>
            </a:r>
          </a:p>
          <a:p>
            <a:pPr>
              <a:spcAft>
                <a:spcPts val="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The pipeline generates a Markdown/JSON report. A file is ready to submit only when Missing = 0 and Flagged = 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Target University Portals &amp; E-Visa Pathways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IEQAS ACCREDITED E-VISA ISSUANCE</a:t>
            </a:r>
          </a:p>
          <a:p>
            <a:pPr>
              <a:spcAft>
                <a:spcPts val="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We target IEQAS Excellent (15 in our database) and Certified (53 in our database) institutions.</a:t>
            </a:r>
          </a:p>
          <a:p>
            <a:pPr>
              <a:spcAft>
                <a:spcPts val="1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These schools qualify for simplified e-visa processing, avoiding the massive physical document stack at the embassy in Dhaka.</a:t>
            </a:r>
          </a:p>
          <a:p>
            <a:pPr>
              <a:spcAft>
                <a:spcPts val="12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F-2-R REGIONAL RESIDENCY PATHWAYS</a:t>
            </a:r>
          </a:p>
          <a:p>
            <a:pPr>
              <a:spcAft>
                <a:spcPts val="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We route students to regional colleges in depopulated areas (Busan, Ulsan, Daegu, Daejeon).</a:t>
            </a:r>
          </a:p>
          <a:p>
            <a:pPr>
              <a:spcAft>
                <a:spcPts val="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Graduation from these regional campuses unlocks the local post-grad F-2-R visa (work and live rights in Korea).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  <a:latin typeface="Arial"/>
              </a:defRPr>
            </a:pPr>
            <a:r>
              <a:t>THE KEY PROGRAM CLUSTERS</a:t>
            </a:r>
          </a:p>
          <a:p>
            <a:pPr>
              <a:spcAft>
                <a:spcPts val="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KLP (Korean Language): Sun Moon Univ KLI, BUFS, Chungnam National (notably low 8M KRW bank statement).</a:t>
            </a:r>
          </a:p>
          <a:p>
            <a:pPr>
              <a:spcAft>
                <a:spcPts val="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EAP (English-medium Bridge): Kyungsung Univ EAP (95%+ visa success), Ulsan College EAP.</a:t>
            </a:r>
          </a:p>
          <a:p>
            <a:pPr>
              <a:spcAft>
                <a:spcPts val="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BBA (Bachelor's): SolBridge (100% English BBA), Woosong Univ, Pusan National GSP.</a:t>
            </a:r>
          </a:p>
          <a:p>
            <a:pPr>
              <a:spcAft>
                <a:spcPts val="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MBA (Master's): SolBridge MBA, Chungnam National Graduate School.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How Farhabi Drives Success (Core Roles)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1. B2B REFERRAL OUTREACH &amp; PARTNERSHIP</a:t>
            </a:r>
          </a:p>
          <a:p>
            <a:pPr>
              <a:spcAft>
                <a:spcPts val="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Target: Outreaching 800+ local IELTS coaching centers and spoken English schools in the Narsingdi/Gazipur belt.</a:t>
            </a:r>
          </a:p>
          <a:p>
            <a:pPr>
              <a:spcAft>
                <a:spcPts val="1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Task: Call coordinates, visit directors, present referral commissions, and maintain engagement logs in our CRM database.</a:t>
            </a:r>
          </a:p>
          <a:p>
            <a:pPr>
              <a:spcAft>
                <a:spcPts val="12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2. DOCUMENT COMPLIANCE AUDITING</a:t>
            </a:r>
          </a:p>
          <a:p>
            <a:pPr>
              <a:spcAft>
                <a:spcPts val="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Task: Operate the automated Python audit pipeline.</a:t>
            </a:r>
          </a:p>
          <a:p>
            <a:pPr>
              <a:spcAft>
                <a:spcPts val="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Review metadata validation results, investigate name discrepancies, verify e-apostille QR authenticity, and clear FLAGGED documents.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  <a:latin typeface="Arial"/>
              </a:defRPr>
            </a:pPr>
            <a:r>
              <a:t>3. STUDENT ENGAGEMENT &amp; ADVISING</a:t>
            </a:r>
          </a:p>
          <a:p>
            <a:pPr>
              <a:spcAft>
                <a:spcPts val="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Task: Walk students through their study pathway plans.</a:t>
            </a:r>
          </a:p>
          <a:p>
            <a:pPr>
              <a:spcAft>
                <a:spcPts val="1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Guide candidates in choosing KLP, EAP, BBA, or MBA programs based on their IELTS scores and financial capacity.</a:t>
            </a:r>
          </a:p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  <a:latin typeface="Arial"/>
              </a:defRPr>
            </a:pPr>
            <a:r>
              <a:t>4. PARENT ENGAGEMENT &amp; FINANCIAL COOPERATION</a:t>
            </a:r>
          </a:p>
          <a:p>
            <a:pPr>
              <a:spcAft>
                <a:spcPts val="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Task: Address the concerns of skeptical parents/guardians.</a:t>
            </a:r>
          </a:p>
          <a:p>
            <a:pPr>
              <a:spcAft>
                <a:spcPts val="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Present the 'K-Escrow' locked-balance system, proving their funds are legally held and fully protected from third-party risk.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The Locked Escrow Account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THE PROBLEM: BANGLADESH SPONSOR FRAUD</a:t>
            </a:r>
          </a:p>
          <a:p>
            <a:pPr>
              <a:spcAft>
                <a:spcPts val="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Standard agencies tell families to borrow money temporarily, print a bank statement, and withdraw the funds immediately.</a:t>
            </a:r>
          </a:p>
          <a:p>
            <a:pPr>
              <a:spcAft>
                <a:spcPts val="1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Embassies verify account activity and reject files for lack of genuine financial capacity.</a:t>
            </a:r>
          </a:p>
          <a:p>
            <a:pPr>
              <a:spcAft>
                <a:spcPts val="12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THE SOLUTION: K-ESCROW BANKING</a:t>
            </a:r>
          </a:p>
          <a:p>
            <a:pPr>
              <a:spcAft>
                <a:spcPts val="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Parents deposit the required sponsor funds ($10,000-$20,000) into a local partner bank (e.g. City Bank / DBBL).</a:t>
            </a:r>
          </a:p>
          <a:p>
            <a:pPr>
              <a:spcAft>
                <a:spcPts val="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The bank locks the funds and issues an 'Irrevocable locked balance certificate' valid until visa issuance.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  <a:latin typeface="Arial"/>
              </a:defRPr>
            </a:pPr>
            <a:r>
              <a:t>PROTECTING SPONSOR CAPITAL</a:t>
            </a:r>
          </a:p>
          <a:p>
            <a:pPr>
              <a:spcAft>
                <a:spcPts val="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Reassures both Korean Universities and Embassies that sponsor funds are real, active, and fully committed.</a:t>
            </a:r>
          </a:p>
          <a:p>
            <a:pPr>
              <a:spcAft>
                <a:spcPts val="1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Protects the family: money cannot be scammed by intermediaries, and is released to the student as their monthly stipend/tuition once they enroll in Korea.</a:t>
            </a:r>
          </a:p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  <a:latin typeface="Arial"/>
              </a:defRPr>
            </a:pPr>
            <a:r>
              <a:t>SYSTEM INTEGRATION</a:t>
            </a:r>
          </a:p>
          <a:p>
            <a:pPr>
              <a:spcAft>
                <a:spcPts val="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audit.py parses the certificate and validates that the lock_until_date is at least 30 days past the class start date.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Joint Action Plan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IMMEDIATE OPERATIONAL PRIORITIES</a:t>
            </a:r>
          </a:p>
          <a:p>
            <a:pPr>
              <a:spcAft>
                <a:spcPts val="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- 1. Reconfigure Repository with New Logic: Push updated fee documents and contracts to GitHub (Done).</a:t>
            </a:r>
          </a:p>
          <a:p>
            <a:pPr>
              <a:spcAft>
                <a:spcPts val="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- 2. Initialize CRM database (crm_db.py): Store referral centers and log outreach states (Farhabi's priority).</a:t>
            </a:r>
          </a:p>
          <a:p>
            <a:pPr>
              <a:spcAft>
                <a:spcPts val="1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- 3. WhatsApp B2B Automation: Start contacting Tier 2 IELTS centers in small, safe daily batches.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  <a:latin typeface="Arial"/>
              </a:defRPr>
            </a:pPr>
            <a:r>
              <a:t>MARKETING &amp; PUBLICITY TARGETS</a:t>
            </a:r>
          </a:p>
          <a:p>
            <a:pPr>
              <a:spcAft>
                <a:spcPts val="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- 4. Launch Whistleblower Campaign: Create the vertical split-screen podcast videos explaining university direct portals.</a:t>
            </a:r>
          </a:p>
          <a:p>
            <a:pPr>
              <a:spcAft>
                <a:spcPts val="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- 5. Counsel First Lead Pipeline: Use the SOP Writing skill guidelines to structure portfolios for early applicants.</a:t>
            </a:r>
          </a:p>
          <a:p>
            <a:pPr>
              <a:spcAft>
                <a:spcPts val="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- 6. Pitch direct university MOUs to maximize rebates for early enrolled students.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